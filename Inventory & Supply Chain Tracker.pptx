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Urbanist" panose="020B0604020202020204" charset="0"/>
      <p:regular r:id="rId15"/>
      <p:bold r:id="rId16"/>
      <p:italic r:id="rId17"/>
      <p:boldItalic r:id="rId18"/>
    </p:embeddedFont>
    <p:embeddedFont>
      <p:font typeface="Urbanist Medium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rup Bhowmik" userId="c24bee0aa66b7fbf" providerId="LiveId" clId="{25627584-53B6-4A69-A3B3-72521A1AF820}"/>
    <pc:docChg chg="delSld">
      <pc:chgData name="Abhirup Bhowmik" userId="c24bee0aa66b7fbf" providerId="LiveId" clId="{25627584-53B6-4A69-A3B3-72521A1AF820}" dt="2026-07-13T08:20:10.213" v="0" actId="47"/>
      <pc:docMkLst>
        <pc:docMk/>
      </pc:docMkLst>
      <pc:sldChg chg="del">
        <pc:chgData name="Abhirup Bhowmik" userId="c24bee0aa66b7fbf" providerId="LiveId" clId="{25627584-53B6-4A69-A3B3-72521A1AF820}" dt="2026-07-13T08:20:10.213" v="0" actId="47"/>
        <pc:sldMkLst>
          <pc:docMk/>
          <pc:sldMk cId="0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039412"/>
            <a:ext cx="11601600" cy="27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650">
                <a:solidFill>
                  <a:srgbClr val="F5F5F5"/>
                </a:solidFill>
              </a:rPr>
              <a:t>Inventory &amp; Supply Chain Tracker</a:t>
            </a:r>
            <a:br>
              <a:rPr lang="en-US" sz="5650">
                <a:solidFill>
                  <a:srgbClr val="F5F5F5"/>
                </a:solidFill>
              </a:rPr>
            </a:br>
            <a:r>
              <a:rPr lang="en-US" sz="5650">
                <a:solidFill>
                  <a:srgbClr val="F5F5F5"/>
                </a:solidFill>
              </a:rPr>
              <a:t> With </a:t>
            </a:r>
            <a:r>
              <a:rPr lang="en-US" sz="5650">
                <a:solidFill>
                  <a:srgbClr val="FFFF00"/>
                </a:solidFill>
              </a:rPr>
              <a:t>Record Alerts</a:t>
            </a:r>
            <a:endParaRPr sz="5650">
              <a:solidFill>
                <a:srgbClr val="FFFF00"/>
              </a:solidFill>
            </a:endParaRPr>
          </a:p>
          <a:p>
            <a:pPr marL="0" marR="0" lvl="0" indent="0" algn="ctr" rtl="0">
              <a:lnSpc>
                <a:spcPct val="10999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625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286075" y="4830862"/>
            <a:ext cx="7620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By Prasam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Indraditya &amp; Ab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hirup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980911" y="4016441"/>
            <a:ext cx="865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Data-Driven Solutions for Replenishment and Cost Management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476250"/>
            <a:ext cx="11049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Problem </a:t>
            </a:r>
            <a:r>
              <a:rPr lang="en-US" sz="4200" b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Statement</a:t>
            </a:r>
            <a:endParaRPr sz="4200" b="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 rotWithShape="1">
          <a:blip r:embed="rId4">
            <a:alphaModFix/>
          </a:blip>
          <a:srcRect l="10505" r="10513"/>
          <a:stretch/>
        </p:blipFill>
        <p:spPr>
          <a:xfrm>
            <a:off x="6667500" y="1524000"/>
            <a:ext cx="4953000" cy="4572000"/>
          </a:xfrm>
          <a:prstGeom prst="roundRect">
            <a:avLst>
              <a:gd name="adj" fmla="val 3333"/>
            </a:avLst>
          </a:prstGeom>
          <a:noFill/>
          <a:ln>
            <a:noFill/>
          </a:ln>
        </p:spPr>
      </p:pic>
      <p:grpSp>
        <p:nvGrpSpPr>
          <p:cNvPr id="95" name="Google Shape;95;p14"/>
          <p:cNvGrpSpPr/>
          <p:nvPr/>
        </p:nvGrpSpPr>
        <p:grpSpPr>
          <a:xfrm>
            <a:off x="571500" y="1524000"/>
            <a:ext cx="5524425" cy="4286400"/>
            <a:chOff x="571500" y="1524000"/>
            <a:chExt cx="5524425" cy="4286400"/>
          </a:xfrm>
        </p:grpSpPr>
        <p:grpSp>
          <p:nvGrpSpPr>
            <p:cNvPr id="96" name="Google Shape;96;p14"/>
            <p:cNvGrpSpPr/>
            <p:nvPr/>
          </p:nvGrpSpPr>
          <p:grpSpPr>
            <a:xfrm>
              <a:off x="571500" y="1524000"/>
              <a:ext cx="5524425" cy="857400"/>
              <a:chOff x="0" y="0"/>
              <a:chExt cx="5524425" cy="857400"/>
            </a:xfrm>
          </p:grpSpPr>
          <p:sp>
            <p:nvSpPr>
              <p:cNvPr id="97" name="Google Shape;97;p14"/>
              <p:cNvSpPr txBox="1"/>
              <p:nvPr/>
            </p:nvSpPr>
            <p:spPr>
              <a:xfrm>
                <a:off x="0" y="0"/>
                <a:ext cx="476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>
                    <a:solidFill>
                      <a:srgbClr val="DEFF9A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01</a:t>
                </a:r>
                <a:endParaRPr sz="2400" b="1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98" name="Google Shape;98;p14"/>
              <p:cNvSpPr txBox="1"/>
              <p:nvPr/>
            </p:nvSpPr>
            <p:spPr>
              <a:xfrm>
                <a:off x="619125" y="0"/>
                <a:ext cx="49053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1">
                    <a:solidFill>
                      <a:srgbClr val="F5F5F5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Are we running out of stock?</a:t>
                </a:r>
                <a:endParaRPr sz="165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300" b="0">
                    <a:solidFill>
                      <a:srgbClr val="DAFFDE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Balancing product availability against warehouse storage costs.</a:t>
                </a:r>
                <a:endParaRPr sz="130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99" name="Google Shape;99;p14"/>
            <p:cNvGrpSpPr/>
            <p:nvPr/>
          </p:nvGrpSpPr>
          <p:grpSpPr>
            <a:xfrm>
              <a:off x="571500" y="2667000"/>
              <a:ext cx="5524425" cy="857400"/>
              <a:chOff x="0" y="0"/>
              <a:chExt cx="5524425" cy="857400"/>
            </a:xfrm>
          </p:grpSpPr>
          <p:sp>
            <p:nvSpPr>
              <p:cNvPr id="100" name="Google Shape;100;p14"/>
              <p:cNvSpPr txBox="1"/>
              <p:nvPr/>
            </p:nvSpPr>
            <p:spPr>
              <a:xfrm>
                <a:off x="0" y="0"/>
                <a:ext cx="476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>
                    <a:solidFill>
                      <a:srgbClr val="DEFF9A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02</a:t>
                </a:r>
                <a:endParaRPr sz="2400" b="1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101" name="Google Shape;101;p14"/>
              <p:cNvSpPr txBox="1"/>
              <p:nvPr/>
            </p:nvSpPr>
            <p:spPr>
              <a:xfrm>
                <a:off x="619125" y="0"/>
                <a:ext cx="49053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1">
                    <a:solidFill>
                      <a:srgbClr val="F5F5F5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Which products sell the most?</a:t>
                </a:r>
                <a:endParaRPr sz="165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300" b="0">
                    <a:solidFill>
                      <a:srgbClr val="DAFFDE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Identifying demand shifts to allocate stock accurately across regions.</a:t>
                </a:r>
                <a:endParaRPr sz="130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102" name="Google Shape;102;p14"/>
            <p:cNvGrpSpPr/>
            <p:nvPr/>
          </p:nvGrpSpPr>
          <p:grpSpPr>
            <a:xfrm>
              <a:off x="571500" y="3810000"/>
              <a:ext cx="5524425" cy="857400"/>
              <a:chOff x="0" y="0"/>
              <a:chExt cx="5524425" cy="857400"/>
            </a:xfrm>
          </p:grpSpPr>
          <p:sp>
            <p:nvSpPr>
              <p:cNvPr id="103" name="Google Shape;103;p14"/>
              <p:cNvSpPr txBox="1"/>
              <p:nvPr/>
            </p:nvSpPr>
            <p:spPr>
              <a:xfrm>
                <a:off x="0" y="0"/>
                <a:ext cx="476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>
                    <a:solidFill>
                      <a:srgbClr val="DEFF9A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03</a:t>
                </a:r>
                <a:endParaRPr sz="2400" b="1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104" name="Google Shape;104;p14"/>
              <p:cNvSpPr txBox="1"/>
              <p:nvPr/>
            </p:nvSpPr>
            <p:spPr>
              <a:xfrm>
                <a:off x="619125" y="0"/>
                <a:ext cx="49053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1">
                    <a:solidFill>
                      <a:srgbClr val="F5F5F5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Which suppliers are causing delays?</a:t>
                </a:r>
                <a:endParaRPr sz="165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300" b="0">
                    <a:solidFill>
                      <a:srgbClr val="DAFFDE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Understanding lead times to avoid supply chain bottlenecks.</a:t>
                </a:r>
                <a:endParaRPr sz="130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105" name="Google Shape;105;p14"/>
            <p:cNvGrpSpPr/>
            <p:nvPr/>
          </p:nvGrpSpPr>
          <p:grpSpPr>
            <a:xfrm>
              <a:off x="571500" y="4953000"/>
              <a:ext cx="5524425" cy="857400"/>
              <a:chOff x="0" y="0"/>
              <a:chExt cx="5524425" cy="857400"/>
            </a:xfrm>
          </p:grpSpPr>
          <p:sp>
            <p:nvSpPr>
              <p:cNvPr id="106" name="Google Shape;106;p14"/>
              <p:cNvSpPr txBox="1"/>
              <p:nvPr/>
            </p:nvSpPr>
            <p:spPr>
              <a:xfrm>
                <a:off x="0" y="0"/>
                <a:ext cx="476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>
                    <a:solidFill>
                      <a:srgbClr val="DEFF9A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04</a:t>
                </a:r>
                <a:endParaRPr sz="2400" b="1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107" name="Google Shape;107;p14"/>
              <p:cNvSpPr txBox="1"/>
              <p:nvPr/>
            </p:nvSpPr>
            <p:spPr>
              <a:xfrm>
                <a:off x="619125" y="0"/>
                <a:ext cx="49053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1">
                    <a:solidFill>
                      <a:srgbClr val="F5F5F5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Are we ordering the right quantities?</a:t>
                </a:r>
                <a:endParaRPr sz="165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300" b="0">
                    <a:solidFill>
                      <a:srgbClr val="DAFFDE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Pinpointing exact reorder points to maintain operational flow without bloat.</a:t>
                </a:r>
                <a:endParaRPr sz="130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476250"/>
            <a:ext cx="11049000" cy="64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</a:t>
            </a:r>
            <a:r>
              <a:rPr lang="en-US" sz="4200" b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Challenge</a:t>
            </a:r>
            <a:endParaRPr sz="4200" b="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grpSp>
        <p:nvGrpSpPr>
          <p:cNvPr id="114" name="Google Shape;114;p15"/>
          <p:cNvGrpSpPr/>
          <p:nvPr/>
        </p:nvGrpSpPr>
        <p:grpSpPr>
          <a:xfrm>
            <a:off x="571500" y="1714500"/>
            <a:ext cx="2524200" cy="4333875"/>
            <a:chOff x="0" y="0"/>
            <a:chExt cx="2524200" cy="4333875"/>
          </a:xfrm>
        </p:grpSpPr>
        <p:sp>
          <p:nvSpPr>
            <p:cNvPr id="115" name="Google Shape;115;p15"/>
            <p:cNvSpPr/>
            <p:nvPr/>
          </p:nvSpPr>
          <p:spPr>
            <a:xfrm>
              <a:off x="0" y="0"/>
              <a:ext cx="2524200" cy="19200"/>
            </a:xfrm>
            <a:prstGeom prst="rect">
              <a:avLst/>
            </a:prstGeom>
            <a:solidFill>
              <a:srgbClr val="DEFF9A">
                <a:alpha val="4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/>
            <p:cNvSpPr txBox="1"/>
            <p:nvPr/>
          </p:nvSpPr>
          <p:spPr>
            <a:xfrm>
              <a:off x="0" y="142875"/>
              <a:ext cx="25242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01</a:t>
              </a:r>
              <a:endParaRPr sz="3600" b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210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Inventory Management</a:t>
              </a:r>
              <a:endParaRPr sz="2100" b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45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Maintaining a delicate balance between having enough stock to meet demand and minimizing excess storage costs.</a:t>
              </a:r>
              <a:endParaRPr sz="1450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17" name="Google Shape;117;p15"/>
          <p:cNvGrpSpPr/>
          <p:nvPr/>
        </p:nvGrpSpPr>
        <p:grpSpPr>
          <a:xfrm>
            <a:off x="3409950" y="1714500"/>
            <a:ext cx="2524200" cy="4333875"/>
            <a:chOff x="0" y="0"/>
            <a:chExt cx="2524200" cy="4333875"/>
          </a:xfrm>
        </p:grpSpPr>
        <p:sp>
          <p:nvSpPr>
            <p:cNvPr id="118" name="Google Shape;118;p15"/>
            <p:cNvSpPr/>
            <p:nvPr/>
          </p:nvSpPr>
          <p:spPr>
            <a:xfrm>
              <a:off x="0" y="0"/>
              <a:ext cx="2524200" cy="19200"/>
            </a:xfrm>
            <a:prstGeom prst="rect">
              <a:avLst/>
            </a:prstGeom>
            <a:solidFill>
              <a:srgbClr val="DEFF9A">
                <a:alpha val="4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5"/>
            <p:cNvSpPr txBox="1"/>
            <p:nvPr/>
          </p:nvSpPr>
          <p:spPr>
            <a:xfrm>
              <a:off x="0" y="142875"/>
              <a:ext cx="25242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02</a:t>
              </a:r>
              <a:endParaRPr sz="3600" b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210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Demand Tracking</a:t>
              </a:r>
              <a:endParaRPr sz="2100" b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45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Identifying which products are selling the most and shifting inventory allocation based on regional performance.</a:t>
              </a:r>
              <a:endParaRPr sz="1450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20" name="Google Shape;120;p15"/>
          <p:cNvGrpSpPr/>
          <p:nvPr/>
        </p:nvGrpSpPr>
        <p:grpSpPr>
          <a:xfrm>
            <a:off x="6248400" y="1714500"/>
            <a:ext cx="2524200" cy="4333875"/>
            <a:chOff x="0" y="0"/>
            <a:chExt cx="2524200" cy="4333875"/>
          </a:xfrm>
        </p:grpSpPr>
        <p:sp>
          <p:nvSpPr>
            <p:cNvPr id="121" name="Google Shape;121;p15"/>
            <p:cNvSpPr/>
            <p:nvPr/>
          </p:nvSpPr>
          <p:spPr>
            <a:xfrm>
              <a:off x="0" y="0"/>
              <a:ext cx="2524200" cy="19200"/>
            </a:xfrm>
            <a:prstGeom prst="rect">
              <a:avLst/>
            </a:prstGeom>
            <a:solidFill>
              <a:srgbClr val="DEFF9A">
                <a:alpha val="4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5"/>
            <p:cNvSpPr txBox="1"/>
            <p:nvPr/>
          </p:nvSpPr>
          <p:spPr>
            <a:xfrm>
              <a:off x="0" y="142875"/>
              <a:ext cx="25242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03</a:t>
              </a:r>
              <a:endParaRPr sz="3600" b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210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Supplier Reliability</a:t>
              </a:r>
              <a:endParaRPr sz="2100" b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45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Tracking supplier lead times to identify which suppliers are causing delays and disrupting the supply chain.</a:t>
              </a:r>
              <a:endParaRPr sz="1450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23" name="Google Shape;123;p15"/>
          <p:cNvGrpSpPr/>
          <p:nvPr/>
        </p:nvGrpSpPr>
        <p:grpSpPr>
          <a:xfrm>
            <a:off x="9086850" y="1714500"/>
            <a:ext cx="2524200" cy="4333875"/>
            <a:chOff x="0" y="0"/>
            <a:chExt cx="2524200" cy="4333875"/>
          </a:xfrm>
        </p:grpSpPr>
        <p:sp>
          <p:nvSpPr>
            <p:cNvPr id="124" name="Google Shape;124;p15"/>
            <p:cNvSpPr/>
            <p:nvPr/>
          </p:nvSpPr>
          <p:spPr>
            <a:xfrm>
              <a:off x="0" y="0"/>
              <a:ext cx="2524200" cy="19200"/>
            </a:xfrm>
            <a:prstGeom prst="rect">
              <a:avLst/>
            </a:prstGeom>
            <a:solidFill>
              <a:srgbClr val="DEFF9A">
                <a:alpha val="4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5"/>
            <p:cNvSpPr txBox="1"/>
            <p:nvPr/>
          </p:nvSpPr>
          <p:spPr>
            <a:xfrm>
              <a:off x="0" y="142875"/>
              <a:ext cx="25242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04</a:t>
              </a:r>
              <a:endParaRPr sz="3600" b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210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Order Optimization</a:t>
              </a:r>
              <a:endParaRPr sz="2100" b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45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Determining the right quantities to order and the exact moment to reorder (Reorder Point) to prevent stockouts.</a:t>
              </a:r>
              <a:endParaRPr sz="1450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99430"/>
            <a:ext cx="11049000" cy="520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52837" y="5577631"/>
            <a:ext cx="48863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71500" y="251668"/>
            <a:ext cx="116014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Replenishment vs. </a:t>
            </a:r>
            <a:r>
              <a:rPr lang="en-US" sz="4125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Demand Gap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5977681"/>
            <a:ext cx="11049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While sales plummet drastically in September (1,260 units), the company ordered higher volumes (2,049 units), causing inventory levels to swell to over 68,000 units by October.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3652837" y="5663356"/>
            <a:ext cx="190500" cy="381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5872162" y="5663356"/>
            <a:ext cx="190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24012"/>
            <a:ext cx="11049000" cy="4757737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476250"/>
            <a:ext cx="116014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Regional </a:t>
            </a:r>
            <a:r>
              <a:rPr lang="en-US" sz="4125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Dominance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5641181"/>
            <a:ext cx="11049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South and North regions are the highest-performing sectors, representing over 50% of total sales (30,730 total units). Inventory allocation must be prioritized here.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71500" y="571500"/>
            <a:ext cx="550068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</a:t>
            </a:r>
            <a:r>
              <a:rPr lang="en-US" sz="4125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Outcome</a:t>
            </a:r>
            <a:endParaRPr/>
          </a:p>
        </p:txBody>
      </p:sp>
      <p:pic>
        <p:nvPicPr>
          <p:cNvPr id="151" name="Google Shape;15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71500" y="1921668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An interactive, automated Excel-based supply chain dashboard.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1047750" y="2788443"/>
            <a:ext cx="4762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Live KPIs: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Tracks Total Units Sold (30,730) and Total Inventory (764,143).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1047750" y="3655218"/>
            <a:ext cx="4762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Dynamic Slicers: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Filter 6 interactive charts by SKU, Warehouse, Supplier, and Region.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1047750" y="4521993"/>
            <a:ext cx="47625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End-User Accessibility: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Includes an "Instructions" sheet for non-technical stakeholders to easily navigate the tool.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762000" y="2674143"/>
            <a:ext cx="666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762000" y="3540918"/>
            <a:ext cx="666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762000" y="4407693"/>
            <a:ext cx="666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pic>
        <p:nvPicPr>
          <p:cNvPr id="159" name="Google Shape;159;p18"/>
          <p:cNvPicPr preferRelativeResize="0"/>
          <p:nvPr/>
        </p:nvPicPr>
        <p:blipFill rotWithShape="1">
          <a:blip r:embed="rId5">
            <a:alphaModFix/>
          </a:blip>
          <a:srcRect l="22021" r="10201"/>
          <a:stretch/>
        </p:blipFill>
        <p:spPr>
          <a:xfrm>
            <a:off x="6381750" y="643564"/>
            <a:ext cx="5810249" cy="554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571500" y="369093"/>
            <a:ext cx="116014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Business </a:t>
            </a:r>
            <a:r>
              <a:rPr lang="en-US" sz="4125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Benefits</a:t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1333500" y="1516856"/>
            <a:ext cx="9525000" cy="1514475"/>
          </a:xfrm>
          <a:prstGeom prst="roundRect">
            <a:avLst>
              <a:gd name="adj" fmla="val 7547"/>
            </a:avLst>
          </a:prstGeom>
          <a:solidFill>
            <a:srgbClr val="1A1A1A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2095500" y="1754981"/>
            <a:ext cx="8477250" cy="103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Cost Reduction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By adjusting reorder points dynamically and aligning order quantities with the Q3/Q4 sales drop-off, the business eliminates end-of-year inventory bloat.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1333500" y="3174206"/>
            <a:ext cx="9525000" cy="1514475"/>
          </a:xfrm>
          <a:prstGeom prst="roundRect">
            <a:avLst>
              <a:gd name="adj" fmla="val 7547"/>
            </a:avLst>
          </a:prstGeom>
          <a:solidFill>
            <a:srgbClr val="1A1A1A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2095500" y="3412331"/>
            <a:ext cx="8477250" cy="103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Optimized Replenishment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Dynamic reorder points (averaging 338 units) act as a necessary buffer to prevent stockouts during supplier lead times (averaging 9 days, up to 14 days).</a:t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1333500" y="4831556"/>
            <a:ext cx="9525000" cy="1514475"/>
          </a:xfrm>
          <a:prstGeom prst="roundRect">
            <a:avLst>
              <a:gd name="adj" fmla="val 7547"/>
            </a:avLst>
          </a:prstGeom>
          <a:solidFill>
            <a:srgbClr val="1A1A1A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2095500" y="5069681"/>
            <a:ext cx="8477250" cy="103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Strategic Planning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Shift excess warehouse inventory from the East region to the South and North regions where demand is highest, maximizing sales potential.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1333500" y="3021806"/>
            <a:ext cx="9525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1333500" y="4679156"/>
            <a:ext cx="9525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1333500" y="6336506"/>
            <a:ext cx="9525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1150" y="1788318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81150" y="3445668"/>
            <a:ext cx="3238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81150" y="5103018"/>
            <a:ext cx="3619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295275" y="2576512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Questions?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571500" y="3910012"/>
            <a:ext cx="110490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Thank you for your time.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402</Words>
  <Application>Microsoft Office PowerPoint</Application>
  <PresentationFormat>Widescreen</PresentationFormat>
  <Paragraphs>47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Urbanist Medium</vt:lpstr>
      <vt:lpstr>Urbanist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Abhirup Bhowmik</cp:lastModifiedBy>
  <cp:revision>1</cp:revision>
  <dcterms:modified xsi:type="dcterms:W3CDTF">2026-07-13T08:20:37Z</dcterms:modified>
</cp:coreProperties>
</file>